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Play"/>
      <p:regular r:id="rId17"/>
      <p:bold r:id="rId18"/>
      <p:italic r:id="rId18"/>
    </p:embeddedFont>
    <p:embeddedFont>
      <p:font typeface="Lucida Sans"/>
      <p:regular r:id="rId19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_1_Play_Regular.fntdata"/><Relationship Id="rId18" Type="http://schemas.openxmlformats.org/officeDocument/2006/relationships/font" Target="fonts/Font_2_Play_Bold.fntdata"/><Relationship Id="rId19" Type="http://schemas.openxmlformats.org/officeDocument/2006/relationships/font" Target="fonts/Font_3_Lucida_Sans_Regular.fntdata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3D81F6-9FAA-4B7F-B28C-126E7CED63F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2EBA45-F480-403F-8036-0B7BB93C0A4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1FA150-4F94-4B10-956B-1E6BE8806E2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092161-4F2A-4174-A4F3-9E9C091A9B9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F89BED-4B7B-421B-8C50-32495F1D260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467809-2A0F-4EEB-9B24-958BC742C2D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59A02F-ECBE-4983-8EDF-3572DCB1CE2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0BDDD2-7533-4315-BFDF-B148B4CD9AB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3B8857-4317-4B26-89FC-766CC03CF41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D750DD8-F9D9-4B90-8072-4C122B02A24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55337E-0788-4068-A468-7D031E4BC8B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9274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685800" y="822960"/>
            <a:ext cx="109440" cy="4388760"/>
          </a:xfrm>
          <a:prstGeom prst="rect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1051560" y="960120"/>
            <a:ext cx="9875160" cy="12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Play"/>
                <a:ea typeface="Play"/>
              </a:rPr>
              <a:t>FleetOps Gateway Internship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7. septembar - 25. septembar 2026.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"/>
          <p:cNvSpPr/>
          <p:nvPr/>
        </p:nvSpPr>
        <p:spPr>
          <a:xfrm>
            <a:off x="1051560" y="4069080"/>
            <a:ext cx="9600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Praktikant: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Teodora Aleksić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DDCF0"/>
                </a:solidFill>
                <a:effectLst/>
                <a:uFillTx/>
                <a:latin typeface="Calibri"/>
                <a:ea typeface="Calibri"/>
              </a:rPr>
              <a:t>Mentori: Đorđe Stevanović  (FE) •  Bojan Ristić (BE)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92;p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93;p2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Danas ćemo proći kroz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4;p2"/>
          <p:cNvSpPr/>
          <p:nvPr/>
        </p:nvSpPr>
        <p:spPr>
          <a:xfrm>
            <a:off x="822960" y="1508760"/>
            <a:ext cx="10515240" cy="29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Upoznavanje i očekivanja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Kako ćemo raditi tokom prakse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FleetOps Gateway projekat i zadatak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GitLab, taskovi, branch-evi i code review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Tehnologije i engineering practices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Administrativne stvari i svakodnevna organizacija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Dogovor za prvi dan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5;p2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6;p2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01;p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5F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02;p3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Upoznajmo 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03;p3"/>
          <p:cNvSpPr/>
          <p:nvPr/>
        </p:nvSpPr>
        <p:spPr>
          <a:xfrm>
            <a:off x="658440" y="1078920"/>
            <a:ext cx="10698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97482"/>
                </a:solidFill>
                <a:effectLst/>
                <a:uFillTx/>
                <a:latin typeface="Arial"/>
                <a:ea typeface="Arial"/>
              </a:rPr>
              <a:t>Nema persiranja - opuštena i otvorena komunikacija.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4;p3"/>
          <p:cNvSpPr/>
          <p:nvPr/>
        </p:nvSpPr>
        <p:spPr>
          <a:xfrm>
            <a:off x="731520" y="1508760"/>
            <a:ext cx="3382920" cy="420588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5;p3"/>
          <p:cNvSpPr/>
          <p:nvPr/>
        </p:nvSpPr>
        <p:spPr>
          <a:xfrm>
            <a:off x="731520" y="1508760"/>
            <a:ext cx="72720" cy="4205880"/>
          </a:xfrm>
          <a:prstGeom prst="rect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6;p3"/>
          <p:cNvSpPr/>
          <p:nvPr/>
        </p:nvSpPr>
        <p:spPr>
          <a:xfrm>
            <a:off x="960120" y="167328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Praktikanti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7;p3"/>
          <p:cNvSpPr/>
          <p:nvPr/>
        </p:nvSpPr>
        <p:spPr>
          <a:xfrm>
            <a:off x="960120" y="2167200"/>
            <a:ext cx="29714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Teodora Aleksić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8;p3"/>
          <p:cNvSpPr/>
          <p:nvPr/>
        </p:nvSpPr>
        <p:spPr>
          <a:xfrm>
            <a:off x="4389120" y="1508760"/>
            <a:ext cx="3382920" cy="420588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9;p3"/>
          <p:cNvSpPr/>
          <p:nvPr/>
        </p:nvSpPr>
        <p:spPr>
          <a:xfrm>
            <a:off x="4389120" y="1508760"/>
            <a:ext cx="72720" cy="4205880"/>
          </a:xfrm>
          <a:prstGeom prst="rect">
            <a:avLst/>
          </a:prstGeom>
          <a:solidFill>
            <a:srgbClr val="3F825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10;p3"/>
          <p:cNvSpPr/>
          <p:nvPr/>
        </p:nvSpPr>
        <p:spPr>
          <a:xfrm>
            <a:off x="4617720" y="167328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Mentori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1;p3"/>
          <p:cNvSpPr/>
          <p:nvPr/>
        </p:nvSpPr>
        <p:spPr>
          <a:xfrm>
            <a:off x="4617720" y="2167200"/>
            <a:ext cx="29714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Đorđe Stevanović - FE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Bojan Ristić - BE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2;p3"/>
          <p:cNvSpPr/>
          <p:nvPr/>
        </p:nvSpPr>
        <p:spPr>
          <a:xfrm>
            <a:off x="8046720" y="1508760"/>
            <a:ext cx="3382920" cy="420588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3;p3"/>
          <p:cNvSpPr/>
          <p:nvPr/>
        </p:nvSpPr>
        <p:spPr>
          <a:xfrm>
            <a:off x="8046720" y="1508760"/>
            <a:ext cx="72720" cy="4205880"/>
          </a:xfrm>
          <a:prstGeom prst="rect">
            <a:avLst/>
          </a:prstGeom>
          <a:solidFill>
            <a:srgbClr val="B48232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4;p3"/>
          <p:cNvSpPr/>
          <p:nvPr/>
        </p:nvSpPr>
        <p:spPr>
          <a:xfrm>
            <a:off x="8275320" y="167328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Ice breaker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5;p3"/>
          <p:cNvSpPr/>
          <p:nvPr/>
        </p:nvSpPr>
        <p:spPr>
          <a:xfrm>
            <a:off x="8275320" y="2167200"/>
            <a:ext cx="2971440" cy="14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6;p3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7;p3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22;p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23;p4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Koja su vaša očekivanja?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4;p4"/>
          <p:cNvSpPr/>
          <p:nvPr/>
        </p:nvSpPr>
        <p:spPr>
          <a:xfrm>
            <a:off x="658440" y="1078920"/>
            <a:ext cx="106981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97482"/>
                </a:solidFill>
                <a:effectLst/>
                <a:uFillTx/>
                <a:latin typeface="Arial"/>
                <a:ea typeface="Arial"/>
              </a:rPr>
              <a:t>Pre nego što krenemo sa planom - šta želiš da dobijete od ove prakse?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5;p4"/>
          <p:cNvSpPr/>
          <p:nvPr/>
        </p:nvSpPr>
        <p:spPr>
          <a:xfrm>
            <a:off x="868680" y="1554480"/>
            <a:ext cx="9966600" cy="21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Šta bi volela da naučiš?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Koje tehnologije ili oblasti želiš da upoznaš dublje?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Šta očekuješ od mentora i tima?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Šta bi volela da možeš da pokažete na kraju prakse?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Šta bi za tebe značilo da je praksa bila uspešna?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6;p4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7;p4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132;p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5F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33;p5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Šta ćemo raditi?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4;p5"/>
          <p:cNvSpPr/>
          <p:nvPr/>
        </p:nvSpPr>
        <p:spPr>
          <a:xfrm>
            <a:off x="658440" y="1078920"/>
            <a:ext cx="10698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97482"/>
                </a:solidFill>
                <a:effectLst/>
                <a:uFillTx/>
                <a:latin typeface="Arial"/>
                <a:ea typeface="Arial"/>
              </a:rPr>
              <a:t>FleetOps Gateway - projekat kroz koji ćemo proći ceo razvojni ciklus.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35;p5"/>
          <p:cNvSpPr/>
          <p:nvPr/>
        </p:nvSpPr>
        <p:spPr>
          <a:xfrm>
            <a:off x="731520" y="1463040"/>
            <a:ext cx="3382920" cy="429732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6;p5"/>
          <p:cNvSpPr/>
          <p:nvPr/>
        </p:nvSpPr>
        <p:spPr>
          <a:xfrm>
            <a:off x="731520" y="1463040"/>
            <a:ext cx="72720" cy="4297320"/>
          </a:xfrm>
          <a:prstGeom prst="rect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7;p5"/>
          <p:cNvSpPr/>
          <p:nvPr/>
        </p:nvSpPr>
        <p:spPr>
          <a:xfrm>
            <a:off x="960120" y="162756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FleetOps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8;p5"/>
          <p:cNvSpPr/>
          <p:nvPr/>
        </p:nvSpPr>
        <p:spPr>
          <a:xfrm>
            <a:off x="960120" y="2121480"/>
            <a:ext cx="297144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Backend servis koji predstavlja integracioni sloj između FleetOps Gateway aplikacije i provider sistema.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9;p5"/>
          <p:cNvSpPr/>
          <p:nvPr/>
        </p:nvSpPr>
        <p:spPr>
          <a:xfrm>
            <a:off x="4389120" y="1463040"/>
            <a:ext cx="3382920" cy="429732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40;p5"/>
          <p:cNvSpPr/>
          <p:nvPr/>
        </p:nvSpPr>
        <p:spPr>
          <a:xfrm>
            <a:off x="4389120" y="1463040"/>
            <a:ext cx="72720" cy="4297320"/>
          </a:xfrm>
          <a:prstGeom prst="rect">
            <a:avLst/>
          </a:prstGeom>
          <a:solidFill>
            <a:srgbClr val="3F825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41;p5"/>
          <p:cNvSpPr/>
          <p:nvPr/>
        </p:nvSpPr>
        <p:spPr>
          <a:xfrm>
            <a:off x="4617720" y="162756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FleetOps Provider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2;p5"/>
          <p:cNvSpPr/>
          <p:nvPr/>
        </p:nvSpPr>
        <p:spPr>
          <a:xfrm>
            <a:off x="4617720" y="2121480"/>
            <a:ext cx="297144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Backend servis koji simulira eksterne Free i Premium provider API-je i različite scenarije.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43;p5"/>
          <p:cNvSpPr/>
          <p:nvPr/>
        </p:nvSpPr>
        <p:spPr>
          <a:xfrm>
            <a:off x="8046720" y="1463040"/>
            <a:ext cx="3382920" cy="429732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4;p5"/>
          <p:cNvSpPr/>
          <p:nvPr/>
        </p:nvSpPr>
        <p:spPr>
          <a:xfrm>
            <a:off x="8046720" y="1463040"/>
            <a:ext cx="72720" cy="4297320"/>
          </a:xfrm>
          <a:prstGeom prst="rect">
            <a:avLst/>
          </a:prstGeom>
          <a:solidFill>
            <a:srgbClr val="965F9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5;p5"/>
          <p:cNvSpPr/>
          <p:nvPr/>
        </p:nvSpPr>
        <p:spPr>
          <a:xfrm>
            <a:off x="8275320" y="162756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FleetOps Frontend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6;p5"/>
          <p:cNvSpPr/>
          <p:nvPr/>
        </p:nvSpPr>
        <p:spPr>
          <a:xfrm>
            <a:off x="8275320" y="2121480"/>
            <a:ext cx="297144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Frontend aplikacija za rad sa FleetOps Gateway funkcionalnostima i komunikaciju sa backendom.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7;p5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8;p5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53;p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54;p6"/>
          <p:cNvSpPr/>
          <p:nvPr/>
        </p:nvSpPr>
        <p:spPr>
          <a:xfrm>
            <a:off x="640080" y="411480"/>
            <a:ext cx="10881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Zadatak - ukratko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55;p6"/>
          <p:cNvSpPr/>
          <p:nvPr/>
        </p:nvSpPr>
        <p:spPr>
          <a:xfrm>
            <a:off x="822960" y="1417320"/>
            <a:ext cx="10423800" cy="34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FleetOps Gateway je simulacija realnog B2B SaaS proizvoda koji koriste leasing kuće, osiguravajuća društva, rent-a-car kompanije, servisni centri i auto-kuće za pretragu podataka o vozilima na osnovu VIN (Vehicle Identification Number) broja.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Neke od funkcionalnosti: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3283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pretraga vozila po VIN broju,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3283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integracija sa eksternim servisima (Free i Premium),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3283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obrada uspešnih odgovora, greška, timeout i fallback scenarija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3283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čuvanje istorije pretraga 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3283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dashboard sa osnovnim statistikama.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Tokom rada zajedno definišemo detaljnu arhitekturu, API ugovore i tehnička rešenja.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56;p6"/>
          <p:cNvSpPr/>
          <p:nvPr/>
        </p:nvSpPr>
        <p:spPr>
          <a:xfrm>
            <a:off x="822960" y="5715000"/>
            <a:ext cx="10423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060A0"/>
                </a:solidFill>
                <a:effectLst/>
                <a:uFillTx/>
                <a:latin typeface="Calibri"/>
                <a:ea typeface="Calibri"/>
              </a:rPr>
              <a:t>Važno: arhitektura nije unapred definisana - deo zadatka je da je zajedno osmislimo i obrazložimo.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57;p6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58;p6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63;p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64;p7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Način rada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65;p7"/>
          <p:cNvSpPr/>
          <p:nvPr/>
        </p:nvSpPr>
        <p:spPr>
          <a:xfrm>
            <a:off x="658440" y="107892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97482"/>
                </a:solidFill>
                <a:effectLst/>
                <a:uFillTx/>
                <a:latin typeface="Arial"/>
                <a:ea typeface="Arial"/>
              </a:rPr>
              <a:t>Radimo kao mali razvojni tim, ne kao skup individualnih zadataka.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66;p7"/>
          <p:cNvSpPr/>
          <p:nvPr/>
        </p:nvSpPr>
        <p:spPr>
          <a:xfrm>
            <a:off x="685800" y="1828800"/>
            <a:ext cx="529920" cy="529920"/>
          </a:xfrm>
          <a:prstGeom prst="ellipse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7;p7"/>
          <p:cNvSpPr/>
          <p:nvPr/>
        </p:nvSpPr>
        <p:spPr>
          <a:xfrm>
            <a:off x="685800" y="251460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2740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830"/>
                </a:solidFill>
                <a:effectLst/>
                <a:uFillTx/>
                <a:latin typeface="Calibri"/>
                <a:ea typeface="Calibri"/>
              </a:rPr>
              <a:t>Na početku dana dogovaramo fokus i prioritete.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8;p7"/>
          <p:cNvSpPr/>
          <p:nvPr/>
        </p:nvSpPr>
        <p:spPr>
          <a:xfrm>
            <a:off x="2971800" y="1828800"/>
            <a:ext cx="529920" cy="529920"/>
          </a:xfrm>
          <a:prstGeom prst="ellipse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9;p7"/>
          <p:cNvSpPr/>
          <p:nvPr/>
        </p:nvSpPr>
        <p:spPr>
          <a:xfrm>
            <a:off x="2971800" y="251460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2740"/>
                </a:solidFill>
                <a:effectLst/>
                <a:uFillTx/>
                <a:latin typeface="Calibri"/>
                <a:ea typeface="Calibri"/>
              </a:rPr>
              <a:t>Implementacija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830"/>
                </a:solidFill>
                <a:effectLst/>
                <a:uFillTx/>
                <a:latin typeface="Calibri"/>
                <a:ea typeface="Calibri"/>
              </a:rPr>
              <a:t>Radi se kroz GitLab issue → branch → commit → MR.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70;p7"/>
          <p:cNvSpPr/>
          <p:nvPr/>
        </p:nvSpPr>
        <p:spPr>
          <a:xfrm>
            <a:off x="5257800" y="1828800"/>
            <a:ext cx="529920" cy="529920"/>
          </a:xfrm>
          <a:prstGeom prst="ellipse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71;p7"/>
          <p:cNvSpPr/>
          <p:nvPr/>
        </p:nvSpPr>
        <p:spPr>
          <a:xfrm>
            <a:off x="5257800" y="251460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2740"/>
                </a:solidFill>
                <a:effectLst/>
                <a:uFillTx/>
                <a:latin typeface="Calibri"/>
                <a:ea typeface="Calibri"/>
              </a:rPr>
              <a:t>Review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830"/>
                </a:solidFill>
                <a:effectLst/>
                <a:uFillTx/>
                <a:latin typeface="Calibri"/>
                <a:ea typeface="Calibri"/>
              </a:rPr>
              <a:t>Kod prolazi kroz code review i diskusiju.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72;p7"/>
          <p:cNvSpPr/>
          <p:nvPr/>
        </p:nvSpPr>
        <p:spPr>
          <a:xfrm>
            <a:off x="7543800" y="1828800"/>
            <a:ext cx="529920" cy="529920"/>
          </a:xfrm>
          <a:prstGeom prst="ellipse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73;p7"/>
          <p:cNvSpPr/>
          <p:nvPr/>
        </p:nvSpPr>
        <p:spPr>
          <a:xfrm>
            <a:off x="7543800" y="251460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2740"/>
                </a:solidFill>
                <a:effectLst/>
                <a:uFillTx/>
                <a:latin typeface="Calibri"/>
                <a:ea typeface="Calibri"/>
              </a:rPr>
              <a:t>CI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830"/>
                </a:solidFill>
                <a:effectLst/>
                <a:uFillTx/>
                <a:latin typeface="Calibri"/>
                <a:ea typeface="Calibri"/>
              </a:rPr>
              <a:t>Pipeline proverava build i testove.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74;p7"/>
          <p:cNvSpPr/>
          <p:nvPr/>
        </p:nvSpPr>
        <p:spPr>
          <a:xfrm>
            <a:off x="9829800" y="1828800"/>
            <a:ext cx="529920" cy="529920"/>
          </a:xfrm>
          <a:prstGeom prst="ellipse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5;p7"/>
          <p:cNvSpPr/>
          <p:nvPr/>
        </p:nvSpPr>
        <p:spPr>
          <a:xfrm>
            <a:off x="9829800" y="251460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2740"/>
                </a:solidFill>
                <a:effectLst/>
                <a:uFillTx/>
                <a:latin typeface="Calibri"/>
                <a:ea typeface="Calibri"/>
              </a:rPr>
              <a:t>Demo &amp; feedback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830"/>
                </a:solidFill>
                <a:effectLst/>
                <a:uFillTx/>
                <a:latin typeface="Calibri"/>
                <a:ea typeface="Calibri"/>
              </a:rPr>
              <a:t>Pokazujemo rezultat, razgovaramo o rešenju i sledećim koracima.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6;p7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7;p7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82;p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5F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83;p8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Na šta stavljamo poseban akcenat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84;p8"/>
          <p:cNvSpPr/>
          <p:nvPr/>
        </p:nvSpPr>
        <p:spPr>
          <a:xfrm>
            <a:off x="777240" y="1371600"/>
            <a:ext cx="106066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Clean Code i čitljivost - kod se mnogo više čita nego što se piše.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Organizacija projekta i jasna podela odgovornosti.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SOLID i design patterns - kada imaju smisla, a ne mehanička primena.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API design, validacija i konzistentni error handling.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Testiranje - testovi nisu samo provera, već i dokumentacija ponašanja.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Komunikacija sa eksternim servisima: timeout, error, fallback i resilience.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Code review, ownership, dokumentacija i tehničke odluke.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Razmišljanje o kvalitetu i poslovnoj vrednosti, ne samo o implementaciji.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85;p8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86;p8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91;p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92;p9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Alati i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93;p9"/>
          <p:cNvSpPr/>
          <p:nvPr/>
        </p:nvSpPr>
        <p:spPr>
          <a:xfrm>
            <a:off x="731520" y="1417320"/>
            <a:ext cx="3382920" cy="438876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94;p9"/>
          <p:cNvSpPr/>
          <p:nvPr/>
        </p:nvSpPr>
        <p:spPr>
          <a:xfrm>
            <a:off x="731520" y="1417320"/>
            <a:ext cx="72720" cy="4388760"/>
          </a:xfrm>
          <a:prstGeom prst="rect">
            <a:avLst/>
          </a:prstGeom>
          <a:solidFill>
            <a:srgbClr val="3060A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5;p9"/>
          <p:cNvSpPr/>
          <p:nvPr/>
        </p:nvSpPr>
        <p:spPr>
          <a:xfrm>
            <a:off x="960120" y="158184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GitLab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96;p9"/>
          <p:cNvSpPr/>
          <p:nvPr/>
        </p:nvSpPr>
        <p:spPr>
          <a:xfrm>
            <a:off x="960120" y="2075760"/>
            <a:ext cx="2971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Repositories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Issues / Board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Merge Requests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Code Review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CI/CD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97;p9"/>
          <p:cNvSpPr/>
          <p:nvPr/>
        </p:nvSpPr>
        <p:spPr>
          <a:xfrm>
            <a:off x="4389120" y="1417320"/>
            <a:ext cx="3382920" cy="438876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98;p9"/>
          <p:cNvSpPr/>
          <p:nvPr/>
        </p:nvSpPr>
        <p:spPr>
          <a:xfrm>
            <a:off x="4389120" y="1417320"/>
            <a:ext cx="72720" cy="4388760"/>
          </a:xfrm>
          <a:prstGeom prst="rect">
            <a:avLst/>
          </a:prstGeom>
          <a:solidFill>
            <a:srgbClr val="3F825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99;p9"/>
          <p:cNvSpPr/>
          <p:nvPr/>
        </p:nvSpPr>
        <p:spPr>
          <a:xfrm>
            <a:off x="4617720" y="158184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Backend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200;p9"/>
          <p:cNvSpPr/>
          <p:nvPr/>
        </p:nvSpPr>
        <p:spPr>
          <a:xfrm>
            <a:off x="4617720" y="2075760"/>
            <a:ext cx="2971440" cy="17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Java 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Spring Boot 4.1.0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Spring Data JPA (Hibernate)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PostgreSQL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REST / OpenAPI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Maven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JUnit / Mockito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01;p9"/>
          <p:cNvSpPr/>
          <p:nvPr/>
        </p:nvSpPr>
        <p:spPr>
          <a:xfrm>
            <a:off x="8046720" y="1417320"/>
            <a:ext cx="3382920" cy="4388760"/>
          </a:xfrm>
          <a:prstGeom prst="roundRect">
            <a:avLst>
              <a:gd name="adj" fmla="val 16667"/>
            </a:avLst>
          </a:prstGeom>
          <a:solidFill>
            <a:srgbClr val="F2F5F9"/>
          </a:solidFill>
          <a:ln w="9525">
            <a:solidFill>
              <a:srgbClr val="E1E6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02;p9"/>
          <p:cNvSpPr/>
          <p:nvPr/>
        </p:nvSpPr>
        <p:spPr>
          <a:xfrm>
            <a:off x="8046720" y="1417320"/>
            <a:ext cx="72720" cy="4388760"/>
          </a:xfrm>
          <a:prstGeom prst="rect">
            <a:avLst/>
          </a:prstGeom>
          <a:solidFill>
            <a:srgbClr val="965F9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03;p9"/>
          <p:cNvSpPr/>
          <p:nvPr/>
        </p:nvSpPr>
        <p:spPr>
          <a:xfrm>
            <a:off x="8275320" y="158184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740"/>
                </a:solidFill>
                <a:effectLst/>
                <a:uFillTx/>
                <a:latin typeface="Arial"/>
                <a:ea typeface="Arial"/>
              </a:rPr>
              <a:t>Frontend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04;p9"/>
          <p:cNvSpPr/>
          <p:nvPr/>
        </p:nvSpPr>
        <p:spPr>
          <a:xfrm>
            <a:off x="8275320" y="2075760"/>
            <a:ext cx="2971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Angular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RxJS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REST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Component-based UI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05;p9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06;p9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11;p1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12;p10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Kako izgleda jedan dan?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13;p10"/>
          <p:cNvSpPr/>
          <p:nvPr/>
        </p:nvSpPr>
        <p:spPr>
          <a:xfrm>
            <a:off x="822960" y="1417320"/>
            <a:ext cx="10423800" cy="23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Početak dana: kratki dogovor o planu, prioritetima i eventualnim blokadama.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Fokusirani rad na taskovima i komunikacija sa timom po potrebi.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Code review i međusobna pomoć - ne čekamo kraj dana ako smo blokirani.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Pauze dogovaramo normalno i koristimo ih bez griže savesti.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Kraj dana: kratko usklađivanje šta je urađeno i šta je sledeće.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Plan za svaki dan pravimo zajedno na početku dana - plan nije uklesan u kamen.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14;p10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15;p10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20;p1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5F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21;p11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Administrativne napomene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22;p11"/>
          <p:cNvSpPr/>
          <p:nvPr/>
        </p:nvSpPr>
        <p:spPr>
          <a:xfrm>
            <a:off x="822960" y="1417320"/>
            <a:ext cx="10423800" cy="19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Radno vreme i dostupnost: dogovaramo na početku prakse i poštujemo dogovor.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Rad iz firme: kada je praksa organizovana on-site, dolazak i prisustvo usklađujemo sa mentorima.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Pauze: koristite ih normalno; nema potrebe da se „pravdate“ za kratku pauzu.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Ako kasniš, odsutna si ili imaš problem sa dolaskom - javiti na vreme.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Ako imaš bilo kakav administrativni ili organizacioni problem, obavestiti mentore što ranije.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23;p11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24;p11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29;p1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30;p12"/>
          <p:cNvSpPr/>
          <p:nvPr/>
        </p:nvSpPr>
        <p:spPr>
          <a:xfrm>
            <a:off x="640080" y="4114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Team Agreement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31;p12"/>
          <p:cNvSpPr/>
          <p:nvPr/>
        </p:nvSpPr>
        <p:spPr>
          <a:xfrm>
            <a:off x="658440" y="107892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97482"/>
                </a:solidFill>
                <a:effectLst/>
                <a:uFillTx/>
                <a:latin typeface="Arial"/>
                <a:ea typeface="Arial"/>
              </a:rPr>
              <a:t>Ovo ćemo zajedno dogovoriti, a ne samo dobiti kao gotova pravila.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32;p12"/>
          <p:cNvSpPr/>
          <p:nvPr/>
        </p:nvSpPr>
        <p:spPr>
          <a:xfrm>
            <a:off x="868680" y="1325880"/>
            <a:ext cx="1024092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Communication &amp; availability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Meetings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Task management &amp; ownership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Git workflow &amp; code review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Definition of Done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Asking for help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Knowledge sharing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Decision making &amp; feedback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Respect &amp; team culture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7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Learning &amp; initiative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3;p12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4;p12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239;p1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9274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40;p13"/>
          <p:cNvSpPr/>
          <p:nvPr/>
        </p:nvSpPr>
        <p:spPr>
          <a:xfrm>
            <a:off x="914400" y="91440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Šta želimo na kraju prakse?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41;p13"/>
          <p:cNvSpPr/>
          <p:nvPr/>
        </p:nvSpPr>
        <p:spPr>
          <a:xfrm>
            <a:off x="960120" y="1828800"/>
            <a:ext cx="9966600" cy="24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Da razumeš kako izgleda rad u stvarnom development timu.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Da umeš da objasniš i obrazložiš svoje tehničke odluke.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Da budeš sigurnija u Git, code review, testiranje i timski rad.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Da napravimo nešto što možemo zajedno da pokažemo.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I najvažnije - da izađeš sa osećajem da si za tri nedelje napravila konkretan korak napred.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42;p13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43;p13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248;p1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49;p14"/>
          <p:cNvSpPr/>
          <p:nvPr/>
        </p:nvSpPr>
        <p:spPr>
          <a:xfrm>
            <a:off x="640080" y="411480"/>
            <a:ext cx="10881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2740"/>
                </a:solidFill>
                <a:effectLst/>
                <a:uFillTx/>
                <a:latin typeface="Play"/>
                <a:ea typeface="Play"/>
              </a:rPr>
              <a:t>Prvi dan - dogovor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50;p14"/>
          <p:cNvSpPr/>
          <p:nvPr/>
        </p:nvSpPr>
        <p:spPr>
          <a:xfrm>
            <a:off x="822960" y="1508760"/>
            <a:ext cx="1042380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Upoznavanje i Team Agreement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Pregled projekta i arhitekture koju ćemo zajedno definisati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GitLab: repositories, issues, board, branches i Merge Requests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Podešavanje lokalnog development okruženja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Prvi jednostavan task za proveru workflow-a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232830"/>
                </a:solidFill>
                <a:effectLst/>
                <a:uFillTx/>
                <a:latin typeface="Arial"/>
                <a:ea typeface="Arial"/>
              </a:rPr>
              <a:t>• Na kraju dana: šta smo naučili, šta je blokada i šta radimo sutra?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51;p14"/>
          <p:cNvSpPr/>
          <p:nvPr/>
        </p:nvSpPr>
        <p:spPr>
          <a:xfrm>
            <a:off x="822960" y="5715000"/>
            <a:ext cx="1033236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060A0"/>
                </a:solidFill>
                <a:effectLst/>
                <a:uFillTx/>
                <a:latin typeface="Calibri"/>
                <a:ea typeface="Calibri"/>
              </a:rPr>
              <a:t>Cilj prvog dana nije brzina - cilj je da svi znamo kako ćemo zajedno raditi.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52;p14"/>
          <p:cNvSpPr/>
          <p:nvPr/>
        </p:nvSpPr>
        <p:spPr>
          <a:xfrm>
            <a:off x="640080" y="6510600"/>
            <a:ext cx="10881000" cy="18000"/>
          </a:xfrm>
          <a:prstGeom prst="rect">
            <a:avLst/>
          </a:prstGeom>
          <a:solidFill>
            <a:srgbClr val="DCE1E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53;p14"/>
          <p:cNvSpPr/>
          <p:nvPr/>
        </p:nvSpPr>
        <p:spPr>
          <a:xfrm>
            <a:off x="10789920" y="65653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97482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en-US</dc:language>
  <cp:lastModifiedBy/>
  <dcterms:modified xsi:type="dcterms:W3CDTF">2026-09-06T17:23:51Z</dcterms:modified>
  <cp:revision>1</cp:revision>
  <dc:subject/>
  <dc:title/>
</cp:coreProperties>
</file>